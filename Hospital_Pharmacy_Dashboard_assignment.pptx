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01" r:id="rId1"/>
  </p:sldMasterIdLst>
  <p:notesMasterIdLst>
    <p:notesMasterId r:id="rId5"/>
  </p:notesMasterIdLst>
  <p:sldIdLst>
    <p:sldId id="256" r:id="rId2"/>
    <p:sldId id="262" r:id="rId3"/>
    <p:sldId id="261" r:id="rId4"/>
  </p:sldIdLst>
  <p:sldSz cx="12192000" cy="6858000"/>
  <p:notesSz cx="6858000" cy="12192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01A3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588" autoAdjust="0"/>
    <p:restoredTop sz="94674" autoAdjust="0"/>
  </p:normalViewPr>
  <p:slideViewPr>
    <p:cSldViewPr snapToGrid="0" snapToObjects="1">
      <p:cViewPr varScale="1">
        <p:scale>
          <a:sx n="74" d="100"/>
          <a:sy n="74" d="100"/>
        </p:scale>
        <p:origin x="552" y="60"/>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072193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2/14/2026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843412420"/>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2/14/2026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1928987867"/>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C764DE79-268F-4C1A-8933-263129D2AF90}" type="datetimeFigureOut">
              <a:rPr lang="en-US" smtClean="0"/>
              <a:t>2/14/2026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4208873578"/>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764DE79-268F-4C1A-8933-263129D2AF90}" type="datetimeFigureOut">
              <a:rPr lang="en-US" smtClean="0"/>
              <a:t>2/14/2026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1367683052"/>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764DE79-268F-4C1A-8933-263129D2AF90}" type="datetimeFigureOut">
              <a:rPr lang="en-US" smtClean="0"/>
              <a:t>2/14/2026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542544489"/>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C764DE79-268F-4C1A-8933-263129D2AF90}" type="datetimeFigureOut">
              <a:rPr lang="en-US" smtClean="0"/>
              <a:t>2/14/2026</a:t>
            </a:fld>
            <a:endParaRPr lang="en-US" dirty="0"/>
          </a:p>
        </p:txBody>
      </p:sp>
      <p:sp>
        <p:nvSpPr>
          <p:cNvPr id="5" name="Footer Placeholder 3"/>
          <p:cNvSpPr>
            <a:spLocks noGrp="1"/>
          </p:cNvSpPr>
          <p:nvPr>
            <p:ph type="ftr" sz="quarter" idx="11"/>
          </p:nvPr>
        </p:nvSpPr>
        <p:spPr/>
        <p:txBody>
          <a:bodyPr/>
          <a:lstStyle/>
          <a:p>
            <a:endParaRPr lang="en-US" dirty="0"/>
          </a:p>
        </p:txBody>
      </p:sp>
      <p:sp>
        <p:nvSpPr>
          <p:cNvPr id="6" name="Slide Number Placeholder 4"/>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2655606520"/>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C764DE79-268F-4C1A-8933-263129D2AF90}" type="datetimeFigureOut">
              <a:rPr lang="en-US" smtClean="0"/>
              <a:t>2/14/2026</a:t>
            </a:fld>
            <a:endParaRPr lang="en-US" dirty="0"/>
          </a:p>
        </p:txBody>
      </p:sp>
      <p:sp>
        <p:nvSpPr>
          <p:cNvPr id="5" name="Footer Placeholder 2"/>
          <p:cNvSpPr>
            <a:spLocks noGrp="1"/>
          </p:cNvSpPr>
          <p:nvPr>
            <p:ph type="ftr" sz="quarter" idx="11"/>
          </p:nvPr>
        </p:nvSpPr>
        <p:spPr/>
        <p:txBody>
          <a:bodyPr/>
          <a:lstStyle/>
          <a:p>
            <a:endParaRPr lang="en-US" dirty="0"/>
          </a:p>
        </p:txBody>
      </p:sp>
      <p:sp>
        <p:nvSpPr>
          <p:cNvPr id="6" name="Slide Number Placeholder 3"/>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1377666659"/>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4"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7" name="Date Placeholder 4"/>
          <p:cNvSpPr>
            <a:spLocks noGrp="1"/>
          </p:cNvSpPr>
          <p:nvPr>
            <p:ph type="dt" sz="half" idx="10"/>
          </p:nvPr>
        </p:nvSpPr>
        <p:spPr/>
        <p:txBody>
          <a:bodyPr/>
          <a:lstStyle/>
          <a:p>
            <a:fld id="{C764DE79-268F-4C1A-8933-263129D2AF90}" type="datetimeFigureOut">
              <a:rPr lang="en-US" smtClean="0"/>
              <a:t>2/14/2026</a:t>
            </a:fld>
            <a:endParaRPr lang="en-US" dirty="0"/>
          </a:p>
        </p:txBody>
      </p:sp>
      <p:sp>
        <p:nvSpPr>
          <p:cNvPr id="5" name="Footer Placeholder 5"/>
          <p:cNvSpPr>
            <a:spLocks noGrp="1"/>
          </p:cNvSpPr>
          <p:nvPr>
            <p:ph type="ftr" sz="quarter" idx="11"/>
          </p:nvPr>
        </p:nvSpPr>
        <p:spPr/>
        <p:txBody>
          <a:bodyPr/>
          <a:lstStyle/>
          <a:p>
            <a:endParaRPr lang="en-US" dirty="0"/>
          </a:p>
        </p:txBody>
      </p:sp>
      <p:sp>
        <p:nvSpPr>
          <p:cNvPr id="6" name="Slide Number Placeholder 6"/>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1023025081"/>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C764DE79-268F-4C1A-8933-263129D2AF90}" type="datetimeFigureOut">
              <a:rPr lang="en-US" smtClean="0"/>
              <a:t>2/14/2026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3271904197"/>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C764DE79-268F-4C1A-8933-263129D2AF90}" type="datetimeFigureOut">
              <a:rPr lang="en-US" smtClean="0"/>
              <a:t>2/14/2026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1614483957"/>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4" name="Date Placeholder 3"/>
          <p:cNvSpPr>
            <a:spLocks noGrp="1"/>
          </p:cNvSpPr>
          <p:nvPr>
            <p:ph type="dt" sz="half" idx="10"/>
          </p:nvPr>
        </p:nvSpPr>
        <p:spPr/>
        <p:txBody>
          <a:bodyPr/>
          <a:lstStyle/>
          <a:p>
            <a:fld id="{C764DE79-268F-4C1A-8933-263129D2AF90}" type="datetimeFigureOut">
              <a:rPr lang="en-US" smtClean="0"/>
              <a:t>2/14/2026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3698495187"/>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4" name="Text Placeholder 3"/>
          <p:cNvSpPr>
            <a:spLocks noGrp="1"/>
          </p:cNvSpPr>
          <p:nvPr>
            <p:ph type="body" sz="half" idx="13"/>
          </p:nvPr>
        </p:nvSpPr>
        <p:spPr>
          <a:xfrm>
            <a:off x="1930400" y="3771174"/>
            <a:ext cx="7279649" cy="342174"/>
          </a:xfrm>
        </p:spPr>
        <p:txBody>
          <a:bodyPr anchor="t">
            <a:normAutofit/>
          </a:bodyPr>
          <a:lstStyle>
            <a:lvl1pPr marL="0" indent="0">
              <a:buNone/>
              <a:defRPr lang="en-US" sz="1400" b="0" i="0" kern="1200" cap="small" dirty="0">
                <a:solidFill>
                  <a:schemeClr val="accent1"/>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4" name="Date Placeholder 3"/>
          <p:cNvSpPr>
            <a:spLocks noGrp="1"/>
          </p:cNvSpPr>
          <p:nvPr>
            <p:ph type="dt" sz="half" idx="10"/>
          </p:nvPr>
        </p:nvSpPr>
        <p:spPr/>
        <p:txBody>
          <a:bodyPr/>
          <a:lstStyle/>
          <a:p>
            <a:fld id="{C764DE79-268F-4C1A-8933-263129D2AF90}" type="datetimeFigureOut">
              <a:rPr lang="en-US" smtClean="0"/>
              <a:t>2/14/2026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
        <p:nvSpPr>
          <p:cNvPr id="9" name="TextBox 8"/>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accent1"/>
                </a:solidFill>
                <a:latin typeface="Arial"/>
                <a:ea typeface="+mj-ea"/>
                <a:cs typeface="+mj-cs"/>
              </a:defRPr>
            </a:lvl1pPr>
          </a:lstStyle>
          <a:p>
            <a:pPr lvl="0"/>
            <a:r>
              <a:rPr lang="en-US" dirty="0"/>
              <a:t>“</a:t>
            </a:r>
          </a:p>
        </p:txBody>
      </p:sp>
      <p:sp>
        <p:nvSpPr>
          <p:cNvPr id="13" name="TextBox 12"/>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accent1"/>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420182773"/>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C764DE79-268F-4C1A-8933-263129D2AF90}" type="datetimeFigureOut">
              <a:rPr lang="en-US" smtClean="0"/>
              <a:t>2/14/2026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2877915482"/>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cxnSp>
        <p:nvCxnSpPr>
          <p:cNvPr id="17" name="Straight Connector 16"/>
          <p:cNvCxnSpPr/>
          <p:nvPr/>
        </p:nvCxnSpPr>
        <p:spPr>
          <a:xfrm>
            <a:off x="3726142" y="2133600"/>
            <a:ext cx="0" cy="3962400"/>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C764DE79-268F-4C1A-8933-263129D2AF90}" type="datetimeFigureOut">
              <a:rPr lang="en-US" smtClean="0"/>
              <a:t>2/14/2026</a:t>
            </a:fld>
            <a:endParaRPr lang="en-US" dirty="0"/>
          </a:p>
        </p:txBody>
      </p:sp>
      <p:sp>
        <p:nvSpPr>
          <p:cNvPr id="4"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2732150826"/>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cxnSp>
        <p:nvCxnSpPr>
          <p:cNvPr id="17" name="Straight Connector 16"/>
          <p:cNvCxnSpPr/>
          <p:nvPr/>
        </p:nvCxnSpPr>
        <p:spPr>
          <a:xfrm>
            <a:off x="3726142" y="2133600"/>
            <a:ext cx="0" cy="3962400"/>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C764DE79-268F-4C1A-8933-263129D2AF90}" type="datetimeFigureOut">
              <a:rPr lang="en-US" smtClean="0"/>
              <a:t>2/14/2026</a:t>
            </a:fld>
            <a:endParaRPr lang="en-US" dirty="0"/>
          </a:p>
        </p:txBody>
      </p:sp>
      <p:sp>
        <p:nvSpPr>
          <p:cNvPr id="4"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71639903"/>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2/14/2026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293317594"/>
      </p:ext>
    </p:extLst>
  </p:cSld>
  <p:clrMapOvr>
    <a:masterClrMapping/>
  </p:clrMapOvr>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2/14/2026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1496417331"/>
      </p:ext>
    </p:extLst>
  </p:cSld>
  <p:clrMapOvr>
    <a:masterClrMapping/>
  </p:clrMapOvr>
  <p:hf sldNum="0"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365682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image" Target="../media/image3.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image" Target="../media/image5.png"/><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4.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20">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1">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2">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3">
            <a:extLst>
              <a:ext uri="{28A0092B-C50C-407E-A947-70E740481C1C}">
                <a14:useLocalDpi xmlns:a14="http://schemas.microsoft.com/office/drawing/2010/main" val="0"/>
              </a:ext>
            </a:extLst>
          </a:blip>
          <a:srcRect b="23320"/>
          <a:stretch/>
        </p:blipFill>
        <p:spPr>
          <a:xfrm>
            <a:off x="8609012"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C764DE79-268F-4C1A-8933-263129D2AF90}" type="datetimeFigureOut">
              <a:rPr lang="en-US" smtClean="0"/>
              <a:t>2/14/2026</a:t>
            </a:fld>
            <a:endParaRPr lang="en-US" dirty="0"/>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dirty="0"/>
          </a:p>
        </p:txBody>
      </p:sp>
      <p:sp>
        <p:nvSpPr>
          <p:cNvPr id="6" name="Slide Number Placeholder 5"/>
          <p:cNvSpPr>
            <a:spLocks noGrp="1"/>
          </p:cNvSpPr>
          <p:nvPr>
            <p:ph type="sldNum" sz="quarter" idx="4"/>
          </p:nvPr>
        </p:nvSpPr>
        <p:spPr>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48F63A3B-78C7-47BE-AE5E-E10140E04643}" type="slidenum">
              <a:rPr lang="en-US" smtClean="0"/>
              <a:t>‹#›</a:t>
            </a:fld>
            <a:endParaRPr lang="en-US" dirty="0"/>
          </a:p>
        </p:txBody>
      </p:sp>
    </p:spTree>
    <p:extLst>
      <p:ext uri="{BB962C8B-B14F-4D97-AF65-F5344CB8AC3E}">
        <p14:creationId xmlns:p14="http://schemas.microsoft.com/office/powerpoint/2010/main" val="1607910933"/>
      </p:ext>
    </p:extLst>
  </p:cSld>
  <p:clrMap bg1="dk1" tx1="lt1" bg2="dk2" tx2="lt2" accent1="accent1" accent2="accent2" accent3="accent3" accent4="accent4" accent5="accent5" accent6="accent6" hlink="hlink" folHlink="folHlink"/>
  <p:sldLayoutIdLst>
    <p:sldLayoutId id="2147483702" r:id="rId1"/>
    <p:sldLayoutId id="2147483703" r:id="rId2"/>
    <p:sldLayoutId id="2147483704" r:id="rId3"/>
    <p:sldLayoutId id="2147483705" r:id="rId4"/>
    <p:sldLayoutId id="2147483706" r:id="rId5"/>
    <p:sldLayoutId id="2147483707" r:id="rId6"/>
    <p:sldLayoutId id="2147483708" r:id="rId7"/>
    <p:sldLayoutId id="2147483709" r:id="rId8"/>
    <p:sldLayoutId id="2147483710" r:id="rId9"/>
    <p:sldLayoutId id="2147483711" r:id="rId10"/>
    <p:sldLayoutId id="2147483712" r:id="rId11"/>
    <p:sldLayoutId id="2147483713" r:id="rId12"/>
    <p:sldLayoutId id="2147483714" r:id="rId13"/>
    <p:sldLayoutId id="2147483715" r:id="rId14"/>
    <p:sldLayoutId id="2147483716" r:id="rId15"/>
    <p:sldLayoutId id="2147483717" r:id="rId16"/>
    <p:sldLayoutId id="2147483718" r:id="rId17"/>
    <p:sldLayoutId id="2147483719" r:id="rId18"/>
  </p:sldLayoutIdLst>
  <p:hf sldNum="0" hdr="0" ftr="0" dt="0"/>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8475"/>
            <a:ext cx="5303520" cy="6858000"/>
          </a:xfrm>
          <a:prstGeom prst="rect">
            <a:avLst/>
          </a:prstGeom>
          <a:solidFill>
            <a:srgbClr val="0F3460"/>
          </a:solidFill>
          <a:ln w="12700">
            <a:solidFill>
              <a:srgbClr val="0F3460"/>
            </a:solidFill>
            <a:prstDash val="solid"/>
          </a:ln>
        </p:spPr>
      </p:sp>
      <p:sp>
        <p:nvSpPr>
          <p:cNvPr id="3" name="Shape 1"/>
          <p:cNvSpPr/>
          <p:nvPr/>
        </p:nvSpPr>
        <p:spPr>
          <a:xfrm>
            <a:off x="5303520" y="0"/>
            <a:ext cx="73152" cy="6858000"/>
          </a:xfrm>
          <a:prstGeom prst="rect">
            <a:avLst/>
          </a:prstGeom>
          <a:solidFill>
            <a:srgbClr val="0B7B8B"/>
          </a:solidFill>
          <a:ln w="12700">
            <a:solidFill>
              <a:srgbClr val="0B7B8B"/>
            </a:solidFill>
            <a:prstDash val="solid"/>
          </a:ln>
        </p:spPr>
      </p:sp>
      <p:sp>
        <p:nvSpPr>
          <p:cNvPr id="6" name="Shape 4"/>
          <p:cNvSpPr/>
          <p:nvPr/>
        </p:nvSpPr>
        <p:spPr>
          <a:xfrm>
            <a:off x="502920" y="1417320"/>
            <a:ext cx="1463040" cy="256032"/>
          </a:xfrm>
          <a:prstGeom prst="rect">
            <a:avLst/>
          </a:prstGeom>
          <a:solidFill>
            <a:srgbClr val="0B7B8B"/>
          </a:solidFill>
          <a:ln w="12700">
            <a:solidFill>
              <a:srgbClr val="0B7B8B"/>
            </a:solidFill>
            <a:prstDash val="solid"/>
          </a:ln>
        </p:spPr>
      </p:sp>
      <p:sp>
        <p:nvSpPr>
          <p:cNvPr id="7" name="Text 5"/>
          <p:cNvSpPr/>
          <p:nvPr/>
        </p:nvSpPr>
        <p:spPr>
          <a:xfrm>
            <a:off x="502920" y="1417320"/>
            <a:ext cx="1463040" cy="256032"/>
          </a:xfrm>
          <a:prstGeom prst="rect">
            <a:avLst/>
          </a:prstGeom>
          <a:noFill/>
          <a:ln/>
        </p:spPr>
        <p:txBody>
          <a:bodyPr wrap="square" lIns="0" tIns="0" rIns="0" bIns="0" rtlCol="0" anchor="ctr"/>
          <a:lstStyle/>
          <a:p>
            <a:pPr marL="0" indent="0" algn="ctr">
              <a:buNone/>
            </a:pPr>
            <a:r>
              <a:rPr lang="en-US" sz="750" b="1" kern="0" spc="100" dirty="0">
                <a:solidFill>
                  <a:srgbClr val="FFFFFF"/>
                </a:solidFill>
              </a:rPr>
              <a:t>POWER BI ASSIGNMENT</a:t>
            </a:r>
            <a:endParaRPr lang="en-US" sz="750" dirty="0"/>
          </a:p>
        </p:txBody>
      </p:sp>
      <p:sp>
        <p:nvSpPr>
          <p:cNvPr id="8" name="Text 6"/>
          <p:cNvSpPr/>
          <p:nvPr/>
        </p:nvSpPr>
        <p:spPr>
          <a:xfrm>
            <a:off x="502920" y="1783080"/>
            <a:ext cx="4572000" cy="1371600"/>
          </a:xfrm>
          <a:prstGeom prst="rect">
            <a:avLst/>
          </a:prstGeom>
          <a:noFill/>
          <a:ln/>
        </p:spPr>
        <p:txBody>
          <a:bodyPr wrap="square" lIns="0" tIns="0" rIns="0" bIns="0" rtlCol="0" anchor="ctr"/>
          <a:lstStyle/>
          <a:p>
            <a:pPr marL="0" indent="0">
              <a:buNone/>
            </a:pPr>
            <a:r>
              <a:rPr lang="en-US" sz="4400" b="1" dirty="0">
                <a:solidFill>
                  <a:srgbClr val="FFFFFF"/>
                </a:solidFill>
              </a:rPr>
              <a:t>Hospital &amp;
</a:t>
            </a:r>
            <a:r>
              <a:rPr lang="en-US" sz="4400" b="1" dirty="0">
                <a:solidFill>
                  <a:srgbClr val="44CFCB"/>
                </a:solidFill>
              </a:rPr>
              <a:t>Pharmacy</a:t>
            </a:r>
            <a:endParaRPr lang="en-US" sz="4400" dirty="0"/>
          </a:p>
        </p:txBody>
      </p:sp>
      <p:sp>
        <p:nvSpPr>
          <p:cNvPr id="9" name="Text 7"/>
          <p:cNvSpPr/>
          <p:nvPr/>
        </p:nvSpPr>
        <p:spPr>
          <a:xfrm>
            <a:off x="502920" y="3063240"/>
            <a:ext cx="4572000" cy="594360"/>
          </a:xfrm>
          <a:prstGeom prst="rect">
            <a:avLst/>
          </a:prstGeom>
          <a:noFill/>
          <a:ln/>
        </p:spPr>
        <p:txBody>
          <a:bodyPr wrap="square" lIns="0" tIns="0" rIns="0" bIns="0" rtlCol="0" anchor="ctr"/>
          <a:lstStyle/>
          <a:p>
            <a:pPr marL="0" indent="0">
              <a:buNone/>
            </a:pPr>
            <a:r>
              <a:rPr lang="en-US" sz="2800" dirty="0">
                <a:solidFill>
                  <a:srgbClr val="E2E8F0"/>
                </a:solidFill>
              </a:rPr>
              <a:t>Data Analysis</a:t>
            </a:r>
            <a:endParaRPr lang="en-US" sz="2800" dirty="0"/>
          </a:p>
        </p:txBody>
      </p:sp>
      <p:sp>
        <p:nvSpPr>
          <p:cNvPr id="10" name="Text 8"/>
          <p:cNvSpPr/>
          <p:nvPr/>
        </p:nvSpPr>
        <p:spPr>
          <a:xfrm>
            <a:off x="502920" y="3794760"/>
            <a:ext cx="4389120" cy="640080"/>
          </a:xfrm>
          <a:prstGeom prst="rect">
            <a:avLst/>
          </a:prstGeom>
          <a:noFill/>
          <a:ln/>
        </p:spPr>
        <p:txBody>
          <a:bodyPr wrap="square" lIns="0" tIns="0" rIns="0" bIns="0" rtlCol="0" anchor="ctr"/>
          <a:lstStyle/>
          <a:p>
            <a:pPr marL="0" indent="0">
              <a:lnSpc>
                <a:spcPct val="135000"/>
              </a:lnSpc>
              <a:buNone/>
            </a:pPr>
            <a:r>
              <a:rPr lang="en-US" sz="1200" dirty="0">
                <a:solidFill>
                  <a:srgbClr val="94A3B8"/>
                </a:solidFill>
              </a:rPr>
              <a:t>Comprehensive analytics on patient visits, disease patterns,</a:t>
            </a:r>
            <a:endParaRPr lang="en-US" sz="1200" dirty="0"/>
          </a:p>
          <a:p>
            <a:pPr marL="0" indent="0">
              <a:lnSpc>
                <a:spcPct val="135000"/>
              </a:lnSpc>
              <a:buNone/>
            </a:pPr>
            <a:r>
              <a:rPr lang="en-US" sz="1200" dirty="0">
                <a:solidFill>
                  <a:srgbClr val="94A3B8"/>
                </a:solidFill>
              </a:rPr>
              <a:t>and pharmacy performance for management decision-making.</a:t>
            </a:r>
            <a:endParaRPr lang="en-US" sz="1200" dirty="0"/>
          </a:p>
        </p:txBody>
      </p:sp>
      <p:sp>
        <p:nvSpPr>
          <p:cNvPr id="11" name="Shape 9"/>
          <p:cNvSpPr/>
          <p:nvPr/>
        </p:nvSpPr>
        <p:spPr>
          <a:xfrm>
            <a:off x="502920" y="4526280"/>
            <a:ext cx="4206240" cy="27432"/>
          </a:xfrm>
          <a:prstGeom prst="rect">
            <a:avLst/>
          </a:prstGeom>
          <a:solidFill>
            <a:srgbClr val="0B7B8B">
              <a:alpha val="50000"/>
            </a:srgbClr>
          </a:solidFill>
          <a:ln w="12700">
            <a:solidFill>
              <a:srgbClr val="0B7B8B">
                <a:alpha val="50000"/>
              </a:srgbClr>
            </a:solidFill>
            <a:prstDash val="solid"/>
          </a:ln>
        </p:spPr>
      </p:sp>
      <p:sp>
        <p:nvSpPr>
          <p:cNvPr id="12" name="Text 10"/>
          <p:cNvSpPr/>
          <p:nvPr/>
        </p:nvSpPr>
        <p:spPr>
          <a:xfrm>
            <a:off x="502920" y="4663440"/>
            <a:ext cx="1371600" cy="411480"/>
          </a:xfrm>
          <a:prstGeom prst="rect">
            <a:avLst/>
          </a:prstGeom>
          <a:noFill/>
          <a:ln/>
        </p:spPr>
        <p:txBody>
          <a:bodyPr wrap="square" lIns="0" tIns="0" rIns="0" bIns="0" rtlCol="0" anchor="ctr"/>
          <a:lstStyle/>
          <a:p>
            <a:pPr marL="0" indent="0">
              <a:buNone/>
            </a:pPr>
            <a:r>
              <a:rPr lang="en-US" sz="2200" b="1" dirty="0">
                <a:solidFill>
                  <a:srgbClr val="44CFCB"/>
                </a:solidFill>
              </a:rPr>
              <a:t>120</a:t>
            </a:r>
            <a:endParaRPr lang="en-US" sz="2200" dirty="0"/>
          </a:p>
        </p:txBody>
      </p:sp>
      <p:sp>
        <p:nvSpPr>
          <p:cNvPr id="13" name="Text 11"/>
          <p:cNvSpPr/>
          <p:nvPr/>
        </p:nvSpPr>
        <p:spPr>
          <a:xfrm>
            <a:off x="502920" y="5047488"/>
            <a:ext cx="1371600" cy="228600"/>
          </a:xfrm>
          <a:prstGeom prst="rect">
            <a:avLst/>
          </a:prstGeom>
          <a:noFill/>
          <a:ln/>
        </p:spPr>
        <p:txBody>
          <a:bodyPr wrap="square" lIns="0" tIns="0" rIns="0" bIns="0" rtlCol="0" anchor="ctr"/>
          <a:lstStyle/>
          <a:p>
            <a:pPr marL="0" indent="0">
              <a:buNone/>
            </a:pPr>
            <a:r>
              <a:rPr lang="en-US" sz="950" dirty="0">
                <a:solidFill>
                  <a:srgbClr val="94A3B8"/>
                </a:solidFill>
              </a:rPr>
              <a:t>Patients</a:t>
            </a:r>
            <a:endParaRPr lang="en-US" sz="950" dirty="0"/>
          </a:p>
        </p:txBody>
      </p:sp>
      <p:sp>
        <p:nvSpPr>
          <p:cNvPr id="14" name="Text 12"/>
          <p:cNvSpPr/>
          <p:nvPr/>
        </p:nvSpPr>
        <p:spPr>
          <a:xfrm>
            <a:off x="2057400" y="4663440"/>
            <a:ext cx="1371600" cy="411480"/>
          </a:xfrm>
          <a:prstGeom prst="rect">
            <a:avLst/>
          </a:prstGeom>
          <a:noFill/>
          <a:ln/>
        </p:spPr>
        <p:txBody>
          <a:bodyPr wrap="square" lIns="0" tIns="0" rIns="0" bIns="0" rtlCol="0" anchor="ctr"/>
          <a:lstStyle/>
          <a:p>
            <a:pPr marL="0" indent="0">
              <a:buNone/>
            </a:pPr>
            <a:r>
              <a:rPr lang="en-US" sz="2200" b="1" dirty="0">
                <a:solidFill>
                  <a:srgbClr val="44CFCB"/>
                </a:solidFill>
              </a:rPr>
              <a:t>300</a:t>
            </a:r>
            <a:endParaRPr lang="en-US" sz="2200" dirty="0"/>
          </a:p>
        </p:txBody>
      </p:sp>
      <p:sp>
        <p:nvSpPr>
          <p:cNvPr id="15" name="Text 13"/>
          <p:cNvSpPr/>
          <p:nvPr/>
        </p:nvSpPr>
        <p:spPr>
          <a:xfrm>
            <a:off x="2057400" y="5047488"/>
            <a:ext cx="1371600" cy="228600"/>
          </a:xfrm>
          <a:prstGeom prst="rect">
            <a:avLst/>
          </a:prstGeom>
          <a:noFill/>
          <a:ln/>
        </p:spPr>
        <p:txBody>
          <a:bodyPr wrap="square" lIns="0" tIns="0" rIns="0" bIns="0" rtlCol="0" anchor="ctr"/>
          <a:lstStyle/>
          <a:p>
            <a:pPr marL="0" indent="0">
              <a:buNone/>
            </a:pPr>
            <a:r>
              <a:rPr lang="en-US" sz="950" dirty="0">
                <a:solidFill>
                  <a:srgbClr val="94A3B8"/>
                </a:solidFill>
              </a:rPr>
              <a:t>Visits</a:t>
            </a:r>
            <a:endParaRPr lang="en-US" sz="950" dirty="0"/>
          </a:p>
        </p:txBody>
      </p:sp>
      <p:sp>
        <p:nvSpPr>
          <p:cNvPr id="16" name="Text 14"/>
          <p:cNvSpPr/>
          <p:nvPr/>
        </p:nvSpPr>
        <p:spPr>
          <a:xfrm>
            <a:off x="3611880" y="4663440"/>
            <a:ext cx="1371600" cy="411480"/>
          </a:xfrm>
          <a:prstGeom prst="rect">
            <a:avLst/>
          </a:prstGeom>
          <a:noFill/>
          <a:ln/>
        </p:spPr>
        <p:txBody>
          <a:bodyPr wrap="square" lIns="0" tIns="0" rIns="0" bIns="0" rtlCol="0" anchor="ctr"/>
          <a:lstStyle/>
          <a:p>
            <a:pPr marL="0" indent="0">
              <a:buNone/>
            </a:pPr>
            <a:endParaRPr lang="en-US" sz="2200" dirty="0"/>
          </a:p>
        </p:txBody>
      </p:sp>
      <p:sp>
        <p:nvSpPr>
          <p:cNvPr id="18" name="Text 16"/>
          <p:cNvSpPr/>
          <p:nvPr/>
        </p:nvSpPr>
        <p:spPr>
          <a:xfrm>
            <a:off x="5577840" y="1005840"/>
            <a:ext cx="6217920" cy="411480"/>
          </a:xfrm>
          <a:prstGeom prst="rect">
            <a:avLst/>
          </a:prstGeom>
          <a:noFill/>
          <a:ln/>
        </p:spPr>
        <p:txBody>
          <a:bodyPr wrap="square" lIns="0" tIns="0" rIns="0" bIns="0" rtlCol="0" anchor="ctr"/>
          <a:lstStyle/>
          <a:p>
            <a:pPr marL="0" indent="0">
              <a:buNone/>
            </a:pPr>
            <a:r>
              <a:rPr lang="en-US" sz="1800" b="1" dirty="0">
                <a:solidFill>
                  <a:srgbClr val="FFFFFF"/>
                </a:solidFill>
              </a:rPr>
              <a:t>Dataset Overview</a:t>
            </a:r>
            <a:endParaRPr lang="en-US" sz="1800" dirty="0"/>
          </a:p>
        </p:txBody>
      </p:sp>
      <p:sp>
        <p:nvSpPr>
          <p:cNvPr id="19" name="Shape 17"/>
          <p:cNvSpPr/>
          <p:nvPr/>
        </p:nvSpPr>
        <p:spPr>
          <a:xfrm>
            <a:off x="5577840" y="1600200"/>
            <a:ext cx="6217920" cy="777240"/>
          </a:xfrm>
          <a:prstGeom prst="rect">
            <a:avLst/>
          </a:prstGeom>
          <a:solidFill>
            <a:srgbClr val="0D2137"/>
          </a:solidFill>
          <a:ln w="6350">
            <a:solidFill>
              <a:srgbClr val="0F3460"/>
            </a:solidFill>
            <a:prstDash val="solid"/>
          </a:ln>
          <a:effectLst>
            <a:outerShdw blurRad="101600" dist="38100" dir="8100000" algn="bl" rotWithShape="0">
              <a:srgbClr val="000000">
                <a:alpha val="12000"/>
              </a:srgbClr>
            </a:outerShdw>
          </a:effectLst>
        </p:spPr>
      </p:sp>
      <p:sp>
        <p:nvSpPr>
          <p:cNvPr id="20" name="Shape 18"/>
          <p:cNvSpPr/>
          <p:nvPr/>
        </p:nvSpPr>
        <p:spPr>
          <a:xfrm>
            <a:off x="5577840" y="1600200"/>
            <a:ext cx="45720" cy="777240"/>
          </a:xfrm>
          <a:prstGeom prst="rect">
            <a:avLst/>
          </a:prstGeom>
          <a:solidFill>
            <a:srgbClr val="0B7B8B"/>
          </a:solidFill>
          <a:ln w="12700">
            <a:solidFill>
              <a:srgbClr val="0B7B8B"/>
            </a:solidFill>
            <a:prstDash val="solid"/>
          </a:ln>
        </p:spPr>
      </p:sp>
      <p:sp>
        <p:nvSpPr>
          <p:cNvPr id="21" name="Text 19"/>
          <p:cNvSpPr/>
          <p:nvPr/>
        </p:nvSpPr>
        <p:spPr>
          <a:xfrm>
            <a:off x="5742432" y="1673352"/>
            <a:ext cx="5852160" cy="201168"/>
          </a:xfrm>
          <a:prstGeom prst="rect">
            <a:avLst/>
          </a:prstGeom>
          <a:noFill/>
          <a:ln/>
        </p:spPr>
        <p:txBody>
          <a:bodyPr wrap="square" lIns="0" tIns="0" rIns="0" bIns="0" rtlCol="0" anchor="ctr"/>
          <a:lstStyle/>
          <a:p>
            <a:pPr marL="0" indent="0">
              <a:buNone/>
            </a:pPr>
            <a:r>
              <a:rPr lang="en-US" sz="950" b="1" dirty="0">
                <a:solidFill>
                  <a:srgbClr val="94A3B8"/>
                </a:solidFill>
              </a:rPr>
              <a:t>Data Period</a:t>
            </a:r>
            <a:endParaRPr lang="en-US" sz="950" dirty="0"/>
          </a:p>
        </p:txBody>
      </p:sp>
      <p:sp>
        <p:nvSpPr>
          <p:cNvPr id="22" name="Text 20"/>
          <p:cNvSpPr/>
          <p:nvPr/>
        </p:nvSpPr>
        <p:spPr>
          <a:xfrm>
            <a:off x="5742432" y="1874520"/>
            <a:ext cx="5852160" cy="411480"/>
          </a:xfrm>
          <a:prstGeom prst="rect">
            <a:avLst/>
          </a:prstGeom>
          <a:noFill/>
          <a:ln/>
        </p:spPr>
        <p:txBody>
          <a:bodyPr wrap="square" lIns="0" tIns="0" rIns="0" bIns="0" rtlCol="0" anchor="ctr"/>
          <a:lstStyle/>
          <a:p>
            <a:pPr marL="0" indent="0">
              <a:lnSpc>
                <a:spcPct val="120000"/>
              </a:lnSpc>
              <a:buNone/>
            </a:pPr>
            <a:r>
              <a:rPr lang="en-US" sz="1100" dirty="0">
                <a:solidFill>
                  <a:srgbClr val="FFFFFF"/>
                </a:solidFill>
              </a:rPr>
              <a:t>Jan 2024 – Dec 2024</a:t>
            </a:r>
            <a:endParaRPr lang="en-US" sz="1100" dirty="0"/>
          </a:p>
        </p:txBody>
      </p:sp>
      <p:sp>
        <p:nvSpPr>
          <p:cNvPr id="23" name="Shape 21"/>
          <p:cNvSpPr/>
          <p:nvPr/>
        </p:nvSpPr>
        <p:spPr>
          <a:xfrm>
            <a:off x="5577840" y="2569464"/>
            <a:ext cx="6217920" cy="777240"/>
          </a:xfrm>
          <a:prstGeom prst="rect">
            <a:avLst/>
          </a:prstGeom>
          <a:solidFill>
            <a:srgbClr val="0D2137"/>
          </a:solidFill>
          <a:ln w="6350">
            <a:solidFill>
              <a:srgbClr val="0F3460"/>
            </a:solidFill>
            <a:prstDash val="solid"/>
          </a:ln>
          <a:effectLst>
            <a:outerShdw blurRad="101600" dist="38100" dir="8100000" algn="bl" rotWithShape="0">
              <a:srgbClr val="000000">
                <a:alpha val="12000"/>
              </a:srgbClr>
            </a:outerShdw>
          </a:effectLst>
        </p:spPr>
      </p:sp>
      <p:sp>
        <p:nvSpPr>
          <p:cNvPr id="24" name="Shape 22"/>
          <p:cNvSpPr/>
          <p:nvPr/>
        </p:nvSpPr>
        <p:spPr>
          <a:xfrm>
            <a:off x="5577840" y="2569464"/>
            <a:ext cx="45720" cy="777240"/>
          </a:xfrm>
          <a:prstGeom prst="rect">
            <a:avLst/>
          </a:prstGeom>
          <a:solidFill>
            <a:srgbClr val="0B7B8B"/>
          </a:solidFill>
          <a:ln w="12700">
            <a:solidFill>
              <a:srgbClr val="0B7B8B"/>
            </a:solidFill>
            <a:prstDash val="solid"/>
          </a:ln>
        </p:spPr>
      </p:sp>
      <p:sp>
        <p:nvSpPr>
          <p:cNvPr id="25" name="Text 23"/>
          <p:cNvSpPr/>
          <p:nvPr/>
        </p:nvSpPr>
        <p:spPr>
          <a:xfrm>
            <a:off x="5742432" y="2642616"/>
            <a:ext cx="5852160" cy="201168"/>
          </a:xfrm>
          <a:prstGeom prst="rect">
            <a:avLst/>
          </a:prstGeom>
          <a:noFill/>
          <a:ln/>
        </p:spPr>
        <p:txBody>
          <a:bodyPr wrap="square" lIns="0" tIns="0" rIns="0" bIns="0" rtlCol="0" anchor="ctr"/>
          <a:lstStyle/>
          <a:p>
            <a:pPr marL="0" indent="0">
              <a:buNone/>
            </a:pPr>
            <a:r>
              <a:rPr lang="en-US" sz="950" b="1" dirty="0">
                <a:solidFill>
                  <a:srgbClr val="94A3B8"/>
                </a:solidFill>
              </a:rPr>
              <a:t>Counties Covered</a:t>
            </a:r>
            <a:endParaRPr lang="en-US" sz="950" dirty="0"/>
          </a:p>
        </p:txBody>
      </p:sp>
      <p:sp>
        <p:nvSpPr>
          <p:cNvPr id="26" name="Text 24"/>
          <p:cNvSpPr/>
          <p:nvPr/>
        </p:nvSpPr>
        <p:spPr>
          <a:xfrm>
            <a:off x="5742432" y="2843784"/>
            <a:ext cx="5852160" cy="411480"/>
          </a:xfrm>
          <a:prstGeom prst="rect">
            <a:avLst/>
          </a:prstGeom>
          <a:noFill/>
          <a:ln/>
        </p:spPr>
        <p:txBody>
          <a:bodyPr wrap="square" lIns="0" tIns="0" rIns="0" bIns="0" rtlCol="0" anchor="ctr"/>
          <a:lstStyle/>
          <a:p>
            <a:pPr marL="0" indent="0">
              <a:lnSpc>
                <a:spcPct val="120000"/>
              </a:lnSpc>
              <a:buNone/>
            </a:pPr>
            <a:r>
              <a:rPr lang="en-US" sz="1100" dirty="0">
                <a:solidFill>
                  <a:srgbClr val="FFFFFF"/>
                </a:solidFill>
              </a:rPr>
              <a:t>Nairobi, Kiambu, Kisumu,</a:t>
            </a:r>
            <a:endParaRPr lang="en-US" sz="1100" dirty="0"/>
          </a:p>
          <a:p>
            <a:pPr marL="0" indent="0">
              <a:lnSpc>
                <a:spcPct val="120000"/>
              </a:lnSpc>
              <a:buNone/>
            </a:pPr>
            <a:r>
              <a:rPr lang="en-US" sz="1100" dirty="0">
                <a:solidFill>
                  <a:srgbClr val="FFFFFF"/>
                </a:solidFill>
              </a:rPr>
              <a:t>Mombasa, Nakuru, Uasin Gishu</a:t>
            </a:r>
            <a:endParaRPr lang="en-US" sz="1100" dirty="0"/>
          </a:p>
        </p:txBody>
      </p:sp>
      <p:sp>
        <p:nvSpPr>
          <p:cNvPr id="27" name="Shape 25"/>
          <p:cNvSpPr/>
          <p:nvPr/>
        </p:nvSpPr>
        <p:spPr>
          <a:xfrm>
            <a:off x="5577840" y="3538728"/>
            <a:ext cx="6217920" cy="777240"/>
          </a:xfrm>
          <a:prstGeom prst="rect">
            <a:avLst/>
          </a:prstGeom>
          <a:solidFill>
            <a:srgbClr val="0D2137"/>
          </a:solidFill>
          <a:ln w="6350">
            <a:solidFill>
              <a:srgbClr val="0F3460"/>
            </a:solidFill>
            <a:prstDash val="solid"/>
          </a:ln>
          <a:effectLst>
            <a:outerShdw blurRad="101600" dist="38100" dir="8100000" algn="bl" rotWithShape="0">
              <a:srgbClr val="000000">
                <a:alpha val="12000"/>
              </a:srgbClr>
            </a:outerShdw>
          </a:effectLst>
        </p:spPr>
      </p:sp>
      <p:sp>
        <p:nvSpPr>
          <p:cNvPr id="28" name="Shape 26"/>
          <p:cNvSpPr/>
          <p:nvPr/>
        </p:nvSpPr>
        <p:spPr>
          <a:xfrm>
            <a:off x="5577840" y="3538728"/>
            <a:ext cx="45720" cy="777240"/>
          </a:xfrm>
          <a:prstGeom prst="rect">
            <a:avLst/>
          </a:prstGeom>
          <a:solidFill>
            <a:srgbClr val="0B7B8B"/>
          </a:solidFill>
          <a:ln w="12700">
            <a:solidFill>
              <a:srgbClr val="0B7B8B"/>
            </a:solidFill>
            <a:prstDash val="solid"/>
          </a:ln>
        </p:spPr>
      </p:sp>
      <p:sp>
        <p:nvSpPr>
          <p:cNvPr id="29" name="Text 27"/>
          <p:cNvSpPr/>
          <p:nvPr/>
        </p:nvSpPr>
        <p:spPr>
          <a:xfrm>
            <a:off x="5742432" y="3611880"/>
            <a:ext cx="5852160" cy="201168"/>
          </a:xfrm>
          <a:prstGeom prst="rect">
            <a:avLst/>
          </a:prstGeom>
          <a:noFill/>
          <a:ln/>
        </p:spPr>
        <p:txBody>
          <a:bodyPr wrap="square" lIns="0" tIns="0" rIns="0" bIns="0" rtlCol="0" anchor="ctr"/>
          <a:lstStyle/>
          <a:p>
            <a:pPr marL="0" indent="0">
              <a:buNone/>
            </a:pPr>
            <a:r>
              <a:rPr lang="en-US" sz="950" b="1" dirty="0">
                <a:solidFill>
                  <a:srgbClr val="94A3B8"/>
                </a:solidFill>
              </a:rPr>
              <a:t>Diseases Tracked</a:t>
            </a:r>
            <a:endParaRPr lang="en-US" sz="950" dirty="0"/>
          </a:p>
        </p:txBody>
      </p:sp>
      <p:sp>
        <p:nvSpPr>
          <p:cNvPr id="30" name="Text 28"/>
          <p:cNvSpPr/>
          <p:nvPr/>
        </p:nvSpPr>
        <p:spPr>
          <a:xfrm>
            <a:off x="5742432" y="3813048"/>
            <a:ext cx="5852160" cy="411480"/>
          </a:xfrm>
          <a:prstGeom prst="rect">
            <a:avLst/>
          </a:prstGeom>
          <a:noFill/>
          <a:ln/>
        </p:spPr>
        <p:txBody>
          <a:bodyPr wrap="square" lIns="0" tIns="0" rIns="0" bIns="0" rtlCol="0" anchor="ctr"/>
          <a:lstStyle/>
          <a:p>
            <a:pPr marL="0" indent="0">
              <a:lnSpc>
                <a:spcPct val="120000"/>
              </a:lnSpc>
              <a:buNone/>
            </a:pPr>
            <a:r>
              <a:rPr lang="en-US" sz="1100" dirty="0">
                <a:solidFill>
                  <a:srgbClr val="FFFFFF"/>
                </a:solidFill>
              </a:rPr>
              <a:t>Flu, Typhoid, Diabetes,</a:t>
            </a:r>
            <a:endParaRPr lang="en-US" sz="1100" dirty="0"/>
          </a:p>
          <a:p>
            <a:pPr marL="0" indent="0">
              <a:lnSpc>
                <a:spcPct val="120000"/>
              </a:lnSpc>
              <a:buNone/>
            </a:pPr>
            <a:r>
              <a:rPr lang="en-US" sz="1100" dirty="0">
                <a:solidFill>
                  <a:srgbClr val="FFFFFF"/>
                </a:solidFill>
              </a:rPr>
              <a:t>Hypertension, Pneumonia, Malaria</a:t>
            </a:r>
            <a:endParaRPr lang="en-US" sz="1100" dirty="0"/>
          </a:p>
        </p:txBody>
      </p:sp>
      <p:sp>
        <p:nvSpPr>
          <p:cNvPr id="31" name="Shape 29"/>
          <p:cNvSpPr/>
          <p:nvPr/>
        </p:nvSpPr>
        <p:spPr>
          <a:xfrm>
            <a:off x="5577840" y="4507992"/>
            <a:ext cx="6217920" cy="777240"/>
          </a:xfrm>
          <a:prstGeom prst="rect">
            <a:avLst/>
          </a:prstGeom>
          <a:solidFill>
            <a:srgbClr val="0D2137"/>
          </a:solidFill>
          <a:ln w="6350">
            <a:solidFill>
              <a:srgbClr val="0F3460"/>
            </a:solidFill>
            <a:prstDash val="solid"/>
          </a:ln>
          <a:effectLst>
            <a:outerShdw blurRad="101600" dist="38100" dir="8100000" algn="bl" rotWithShape="0">
              <a:srgbClr val="000000">
                <a:alpha val="12000"/>
              </a:srgbClr>
            </a:outerShdw>
          </a:effectLst>
        </p:spPr>
      </p:sp>
      <p:sp>
        <p:nvSpPr>
          <p:cNvPr id="32" name="Shape 30"/>
          <p:cNvSpPr/>
          <p:nvPr/>
        </p:nvSpPr>
        <p:spPr>
          <a:xfrm>
            <a:off x="5577840" y="4507992"/>
            <a:ext cx="45720" cy="777240"/>
          </a:xfrm>
          <a:prstGeom prst="rect">
            <a:avLst/>
          </a:prstGeom>
          <a:solidFill>
            <a:srgbClr val="0B7B8B"/>
          </a:solidFill>
          <a:ln w="12700">
            <a:solidFill>
              <a:srgbClr val="0B7B8B"/>
            </a:solidFill>
            <a:prstDash val="solid"/>
          </a:ln>
        </p:spPr>
      </p:sp>
      <p:sp>
        <p:nvSpPr>
          <p:cNvPr id="33" name="Text 31"/>
          <p:cNvSpPr/>
          <p:nvPr/>
        </p:nvSpPr>
        <p:spPr>
          <a:xfrm>
            <a:off x="5742432" y="4581144"/>
            <a:ext cx="5852160" cy="201168"/>
          </a:xfrm>
          <a:prstGeom prst="rect">
            <a:avLst/>
          </a:prstGeom>
          <a:noFill/>
          <a:ln/>
        </p:spPr>
        <p:txBody>
          <a:bodyPr wrap="square" lIns="0" tIns="0" rIns="0" bIns="0" rtlCol="0" anchor="ctr"/>
          <a:lstStyle/>
          <a:p>
            <a:pPr marL="0" indent="0">
              <a:buNone/>
            </a:pPr>
            <a:r>
              <a:rPr lang="en-US" sz="950" b="1" dirty="0">
                <a:solidFill>
                  <a:srgbClr val="94A3B8"/>
                </a:solidFill>
              </a:rPr>
              <a:t>Departments</a:t>
            </a:r>
            <a:endParaRPr lang="en-US" sz="950" dirty="0"/>
          </a:p>
        </p:txBody>
      </p:sp>
      <p:sp>
        <p:nvSpPr>
          <p:cNvPr id="34" name="Text 32"/>
          <p:cNvSpPr/>
          <p:nvPr/>
        </p:nvSpPr>
        <p:spPr>
          <a:xfrm>
            <a:off x="5742432" y="4782312"/>
            <a:ext cx="5852160" cy="411480"/>
          </a:xfrm>
          <a:prstGeom prst="rect">
            <a:avLst/>
          </a:prstGeom>
          <a:noFill/>
          <a:ln/>
        </p:spPr>
        <p:txBody>
          <a:bodyPr wrap="square" lIns="0" tIns="0" rIns="0" bIns="0" rtlCol="0" anchor="ctr"/>
          <a:lstStyle/>
          <a:p>
            <a:pPr marL="0" indent="0">
              <a:lnSpc>
                <a:spcPct val="120000"/>
              </a:lnSpc>
              <a:buNone/>
            </a:pPr>
            <a:r>
              <a:rPr lang="en-US" sz="1100" dirty="0">
                <a:solidFill>
                  <a:srgbClr val="FFFFFF"/>
                </a:solidFill>
              </a:rPr>
              <a:t>Inpatient, Outpatient, Emergency</a:t>
            </a:r>
            <a:endParaRPr lang="en-US" sz="1100" dirty="0"/>
          </a:p>
        </p:txBody>
      </p:sp>
      <p:sp>
        <p:nvSpPr>
          <p:cNvPr id="35" name="Shape 33"/>
          <p:cNvSpPr/>
          <p:nvPr/>
        </p:nvSpPr>
        <p:spPr>
          <a:xfrm>
            <a:off x="5577840" y="5477256"/>
            <a:ext cx="6217920" cy="777240"/>
          </a:xfrm>
          <a:prstGeom prst="rect">
            <a:avLst/>
          </a:prstGeom>
          <a:solidFill>
            <a:srgbClr val="0D2137"/>
          </a:solidFill>
          <a:ln w="6350">
            <a:solidFill>
              <a:srgbClr val="0F3460"/>
            </a:solidFill>
            <a:prstDash val="solid"/>
          </a:ln>
          <a:effectLst>
            <a:outerShdw blurRad="101600" dist="38100" dir="8100000" algn="bl" rotWithShape="0">
              <a:srgbClr val="000000">
                <a:alpha val="12000"/>
              </a:srgbClr>
            </a:outerShdw>
          </a:effectLst>
        </p:spPr>
      </p:sp>
      <p:sp>
        <p:nvSpPr>
          <p:cNvPr id="36" name="Shape 34"/>
          <p:cNvSpPr/>
          <p:nvPr/>
        </p:nvSpPr>
        <p:spPr>
          <a:xfrm>
            <a:off x="5577840" y="5477256"/>
            <a:ext cx="45720" cy="777240"/>
          </a:xfrm>
          <a:prstGeom prst="rect">
            <a:avLst/>
          </a:prstGeom>
          <a:solidFill>
            <a:srgbClr val="0B7B8B"/>
          </a:solidFill>
          <a:ln w="12700">
            <a:solidFill>
              <a:srgbClr val="0B7B8B"/>
            </a:solidFill>
            <a:prstDash val="solid"/>
          </a:ln>
        </p:spPr>
      </p:sp>
      <p:sp>
        <p:nvSpPr>
          <p:cNvPr id="37" name="Text 35"/>
          <p:cNvSpPr/>
          <p:nvPr/>
        </p:nvSpPr>
        <p:spPr>
          <a:xfrm>
            <a:off x="5742432" y="5550408"/>
            <a:ext cx="5852160" cy="201168"/>
          </a:xfrm>
          <a:prstGeom prst="rect">
            <a:avLst/>
          </a:prstGeom>
          <a:noFill/>
          <a:ln/>
        </p:spPr>
        <p:txBody>
          <a:bodyPr wrap="square" lIns="0" tIns="0" rIns="0" bIns="0" rtlCol="0" anchor="ctr"/>
          <a:lstStyle/>
          <a:p>
            <a:pPr marL="0" indent="0">
              <a:buNone/>
            </a:pPr>
            <a:r>
              <a:rPr lang="en-US" sz="950" b="1" dirty="0">
                <a:solidFill>
                  <a:srgbClr val="94A3B8"/>
                </a:solidFill>
              </a:rPr>
              <a:t>Drug Categories</a:t>
            </a:r>
            <a:endParaRPr lang="en-US" sz="950" dirty="0"/>
          </a:p>
        </p:txBody>
      </p:sp>
      <p:sp>
        <p:nvSpPr>
          <p:cNvPr id="38" name="Text 36"/>
          <p:cNvSpPr/>
          <p:nvPr/>
        </p:nvSpPr>
        <p:spPr>
          <a:xfrm>
            <a:off x="5742432" y="5751576"/>
            <a:ext cx="5852160" cy="411480"/>
          </a:xfrm>
          <a:prstGeom prst="rect">
            <a:avLst/>
          </a:prstGeom>
          <a:noFill/>
          <a:ln/>
        </p:spPr>
        <p:txBody>
          <a:bodyPr wrap="square" lIns="0" tIns="0" rIns="0" bIns="0" rtlCol="0" anchor="ctr"/>
          <a:lstStyle/>
          <a:p>
            <a:pPr marL="0" indent="0">
              <a:lnSpc>
                <a:spcPct val="120000"/>
              </a:lnSpc>
              <a:buNone/>
            </a:pPr>
            <a:r>
              <a:rPr lang="en-US" sz="1100" dirty="0">
                <a:solidFill>
                  <a:srgbClr val="FFFFFF"/>
                </a:solidFill>
              </a:rPr>
              <a:t>Malaria, Cold &amp; Flu, Diabetes,</a:t>
            </a:r>
            <a:endParaRPr lang="en-US" sz="1100" dirty="0"/>
          </a:p>
          <a:p>
            <a:pPr marL="0" indent="0">
              <a:lnSpc>
                <a:spcPct val="120000"/>
              </a:lnSpc>
              <a:buNone/>
            </a:pPr>
            <a:r>
              <a:rPr lang="en-US" sz="1100" dirty="0">
                <a:solidFill>
                  <a:srgbClr val="FFFFFF"/>
                </a:solidFill>
              </a:rPr>
              <a:t>Painkiller, Antibiotic, Hypertension</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a:gsLst>
            <a:gs pos="63000">
              <a:srgbClr val="002060"/>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158EB59-FABB-4DC5-93E7-B2B3B179C0BD}"/>
              </a:ext>
            </a:extLst>
          </p:cNvPr>
          <p:cNvPicPr>
            <a:picLocks noChangeAspect="1"/>
          </p:cNvPicPr>
          <p:nvPr/>
        </p:nvPicPr>
        <p:blipFill>
          <a:blip r:embed="rId2"/>
          <a:stretch>
            <a:fillRect/>
          </a:stretch>
        </p:blipFill>
        <p:spPr>
          <a:xfrm>
            <a:off x="576775" y="341683"/>
            <a:ext cx="11385214" cy="6368605"/>
          </a:xfrm>
          <a:prstGeom prst="rect">
            <a:avLst/>
          </a:prstGeom>
        </p:spPr>
      </p:pic>
    </p:spTree>
    <p:extLst>
      <p:ext uri="{BB962C8B-B14F-4D97-AF65-F5344CB8AC3E}">
        <p14:creationId xmlns:p14="http://schemas.microsoft.com/office/powerpoint/2010/main" val="28379593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6">
    <p:bg>
      <p:bgPr>
        <a:solidFill>
          <a:srgbClr val="0A1628"/>
        </a:solidFill>
        <a:effectLst/>
      </p:bgPr>
    </p:bg>
    <p:spTree>
      <p:nvGrpSpPr>
        <p:cNvPr id="1" name=""/>
        <p:cNvGrpSpPr/>
        <p:nvPr/>
      </p:nvGrpSpPr>
      <p:grpSpPr>
        <a:xfrm>
          <a:off x="0" y="0"/>
          <a:ext cx="0" cy="0"/>
          <a:chOff x="0" y="0"/>
          <a:chExt cx="0" cy="0"/>
        </a:xfrm>
      </p:grpSpPr>
      <p:sp>
        <p:nvSpPr>
          <p:cNvPr id="3" name="Text 1"/>
          <p:cNvSpPr/>
          <p:nvPr/>
        </p:nvSpPr>
        <p:spPr>
          <a:xfrm>
            <a:off x="228600" y="0"/>
            <a:ext cx="11704320" cy="685800"/>
          </a:xfrm>
          <a:prstGeom prst="rect">
            <a:avLst/>
          </a:prstGeom>
          <a:noFill/>
          <a:ln/>
        </p:spPr>
        <p:txBody>
          <a:bodyPr wrap="square" lIns="0" tIns="0" rIns="0" bIns="0" rtlCol="0" anchor="ctr"/>
          <a:lstStyle/>
          <a:p>
            <a:pPr marL="0" indent="0">
              <a:buNone/>
            </a:pPr>
            <a:r>
              <a:rPr lang="en-US" sz="1100" b="1" kern="0" spc="200" dirty="0">
                <a:solidFill>
                  <a:srgbClr val="FFFFFF"/>
                </a:solidFill>
              </a:rPr>
              <a:t>EXECUTIVE INSIGHTS &amp; RECOMMENDATIONS</a:t>
            </a:r>
            <a:endParaRPr lang="en-US" sz="1100" dirty="0"/>
          </a:p>
        </p:txBody>
      </p:sp>
      <p:sp>
        <p:nvSpPr>
          <p:cNvPr id="4" name="Shape 2"/>
          <p:cNvSpPr/>
          <p:nvPr/>
        </p:nvSpPr>
        <p:spPr>
          <a:xfrm>
            <a:off x="91440" y="868680"/>
            <a:ext cx="5669280" cy="1737360"/>
          </a:xfrm>
          <a:prstGeom prst="rect">
            <a:avLst/>
          </a:prstGeom>
          <a:solidFill>
            <a:srgbClr val="0D2137"/>
          </a:solidFill>
          <a:ln w="6350">
            <a:solidFill>
              <a:srgbClr val="1E3A5F"/>
            </a:solidFill>
            <a:prstDash val="solid"/>
          </a:ln>
          <a:effectLst>
            <a:outerShdw blurRad="101600" dist="38100" dir="8100000" algn="bl" rotWithShape="0">
              <a:srgbClr val="000000">
                <a:alpha val="12000"/>
              </a:srgbClr>
            </a:outerShdw>
          </a:effectLst>
        </p:spPr>
        <p:txBody>
          <a:bodyPr/>
          <a:lstStyle/>
          <a:p>
            <a:endParaRPr lang="en-KE" sz="1100" dirty="0"/>
          </a:p>
        </p:txBody>
      </p:sp>
      <p:sp>
        <p:nvSpPr>
          <p:cNvPr id="5" name="Shape 3"/>
          <p:cNvSpPr/>
          <p:nvPr/>
        </p:nvSpPr>
        <p:spPr>
          <a:xfrm>
            <a:off x="201168" y="868680"/>
            <a:ext cx="54864" cy="1737360"/>
          </a:xfrm>
          <a:prstGeom prst="rect">
            <a:avLst/>
          </a:prstGeom>
          <a:solidFill>
            <a:srgbClr val="0B7B8B"/>
          </a:solidFill>
          <a:ln w="12700">
            <a:solidFill>
              <a:srgbClr val="0B7B8B"/>
            </a:solidFill>
            <a:prstDash val="solid"/>
          </a:ln>
        </p:spPr>
      </p:sp>
      <p:sp>
        <p:nvSpPr>
          <p:cNvPr id="6" name="Text 4"/>
          <p:cNvSpPr/>
          <p:nvPr/>
        </p:nvSpPr>
        <p:spPr>
          <a:xfrm>
            <a:off x="365760" y="960120"/>
            <a:ext cx="5440680" cy="274320"/>
          </a:xfrm>
          <a:prstGeom prst="rect">
            <a:avLst/>
          </a:prstGeom>
          <a:noFill/>
          <a:ln/>
        </p:spPr>
        <p:txBody>
          <a:bodyPr wrap="square" lIns="0" tIns="0" rIns="0" bIns="0" rtlCol="0" anchor="ctr"/>
          <a:lstStyle/>
          <a:p>
            <a:pPr marL="0" indent="0">
              <a:buNone/>
            </a:pPr>
            <a:r>
              <a:rPr lang="en-US" sz="1100" b="1" dirty="0">
                <a:solidFill>
                  <a:schemeClr val="accent4"/>
                </a:solidFill>
              </a:rPr>
              <a:t> Q1 — Disease Patterns Across Counties</a:t>
            </a:r>
            <a:endParaRPr lang="en-US" sz="1100" dirty="0">
              <a:solidFill>
                <a:schemeClr val="accent4"/>
              </a:solidFill>
            </a:endParaRPr>
          </a:p>
        </p:txBody>
      </p:sp>
      <p:sp>
        <p:nvSpPr>
          <p:cNvPr id="7" name="Shape 5"/>
          <p:cNvSpPr/>
          <p:nvPr/>
        </p:nvSpPr>
        <p:spPr>
          <a:xfrm>
            <a:off x="365760" y="1252728"/>
            <a:ext cx="5394960" cy="27432"/>
          </a:xfrm>
          <a:prstGeom prst="rect">
            <a:avLst/>
          </a:prstGeom>
          <a:solidFill>
            <a:srgbClr val="1E3A5F"/>
          </a:solidFill>
          <a:ln w="12700">
            <a:solidFill>
              <a:srgbClr val="1E3A5F"/>
            </a:solidFill>
            <a:prstDash val="solid"/>
          </a:ln>
        </p:spPr>
      </p:sp>
      <p:sp>
        <p:nvSpPr>
          <p:cNvPr id="8" name="Text 6"/>
          <p:cNvSpPr/>
          <p:nvPr/>
        </p:nvSpPr>
        <p:spPr>
          <a:xfrm>
            <a:off x="365760" y="1325879"/>
            <a:ext cx="5413248" cy="1107831"/>
          </a:xfrm>
          <a:prstGeom prst="rect">
            <a:avLst/>
          </a:prstGeom>
          <a:noFill/>
          <a:ln/>
        </p:spPr>
        <p:txBody>
          <a:bodyPr wrap="square" lIns="0" tIns="0" rIns="0" bIns="0" rtlCol="0" anchor="ctr"/>
          <a:lstStyle/>
          <a:p>
            <a:pPr marL="0" indent="0">
              <a:lnSpc>
                <a:spcPct val="130000"/>
              </a:lnSpc>
              <a:buNone/>
            </a:pPr>
            <a:r>
              <a:rPr lang="en-US" sz="1100" dirty="0">
                <a:solidFill>
                  <a:srgbClr val="E2E8F0"/>
                </a:solidFill>
              </a:rPr>
              <a:t>Flu (56 visits) and Typhoid (54) are the most prevalent conditions. Uasin Gishu is an epicenter for Flu (15 cases) and Typhoid (13), suggesting a public health intervention priority. Kisumu shows the highest Hypertension concentration (16 cases), pointing to chronic disease burden in the region.</a:t>
            </a:r>
            <a:endParaRPr lang="en-US" sz="1100" dirty="0"/>
          </a:p>
        </p:txBody>
      </p:sp>
      <p:sp>
        <p:nvSpPr>
          <p:cNvPr id="9" name="Text 7"/>
          <p:cNvSpPr/>
          <p:nvPr/>
        </p:nvSpPr>
        <p:spPr>
          <a:xfrm>
            <a:off x="365760" y="2240280"/>
            <a:ext cx="5413248" cy="320040"/>
          </a:xfrm>
          <a:prstGeom prst="rect">
            <a:avLst/>
          </a:prstGeom>
          <a:noFill/>
          <a:ln/>
        </p:spPr>
        <p:txBody>
          <a:bodyPr wrap="square" lIns="0" tIns="0" rIns="0" bIns="0" rtlCol="0" anchor="ctr"/>
          <a:lstStyle/>
          <a:p>
            <a:pPr marL="0" indent="0">
              <a:buNone/>
            </a:pPr>
            <a:endParaRPr lang="en-US" sz="1100" dirty="0"/>
          </a:p>
        </p:txBody>
      </p:sp>
      <p:sp>
        <p:nvSpPr>
          <p:cNvPr id="10" name="Shape 8"/>
          <p:cNvSpPr/>
          <p:nvPr/>
        </p:nvSpPr>
        <p:spPr>
          <a:xfrm>
            <a:off x="82296" y="2798064"/>
            <a:ext cx="5669280" cy="1737360"/>
          </a:xfrm>
          <a:prstGeom prst="rect">
            <a:avLst/>
          </a:prstGeom>
          <a:solidFill>
            <a:srgbClr val="0D2137"/>
          </a:solidFill>
          <a:ln w="6350">
            <a:solidFill>
              <a:srgbClr val="1E3A5F"/>
            </a:solidFill>
            <a:prstDash val="solid"/>
          </a:ln>
          <a:effectLst>
            <a:outerShdw blurRad="101600" dist="38100" dir="8100000" algn="bl" rotWithShape="0">
              <a:srgbClr val="000000">
                <a:alpha val="12000"/>
              </a:srgbClr>
            </a:outerShdw>
          </a:effectLst>
        </p:spPr>
        <p:txBody>
          <a:bodyPr/>
          <a:lstStyle/>
          <a:p>
            <a:endParaRPr lang="en-KE" dirty="0"/>
          </a:p>
        </p:txBody>
      </p:sp>
      <p:sp>
        <p:nvSpPr>
          <p:cNvPr id="11" name="Shape 9"/>
          <p:cNvSpPr/>
          <p:nvPr/>
        </p:nvSpPr>
        <p:spPr>
          <a:xfrm>
            <a:off x="201168" y="2788920"/>
            <a:ext cx="54864" cy="1737360"/>
          </a:xfrm>
          <a:prstGeom prst="rect">
            <a:avLst/>
          </a:prstGeom>
          <a:solidFill>
            <a:srgbClr val="E76F51"/>
          </a:solidFill>
          <a:ln w="12700">
            <a:solidFill>
              <a:srgbClr val="E76F51"/>
            </a:solidFill>
            <a:prstDash val="solid"/>
          </a:ln>
        </p:spPr>
      </p:sp>
      <p:sp>
        <p:nvSpPr>
          <p:cNvPr id="12" name="Text 10"/>
          <p:cNvSpPr/>
          <p:nvPr/>
        </p:nvSpPr>
        <p:spPr>
          <a:xfrm>
            <a:off x="365760" y="2880360"/>
            <a:ext cx="5440680" cy="274320"/>
          </a:xfrm>
          <a:prstGeom prst="rect">
            <a:avLst/>
          </a:prstGeom>
          <a:noFill/>
          <a:ln/>
        </p:spPr>
        <p:txBody>
          <a:bodyPr wrap="square" lIns="0" tIns="0" rIns="0" bIns="0" rtlCol="0" anchor="ctr"/>
          <a:lstStyle/>
          <a:p>
            <a:pPr marL="0" indent="0">
              <a:buNone/>
            </a:pPr>
            <a:r>
              <a:rPr lang="en-US" sz="1100" b="1" dirty="0">
                <a:solidFill>
                  <a:schemeClr val="accent4"/>
                </a:solidFill>
              </a:rPr>
              <a:t>Q2 — Visits vs Pharmacy Revenue</a:t>
            </a:r>
            <a:endParaRPr lang="en-US" sz="1100" dirty="0">
              <a:solidFill>
                <a:schemeClr val="accent4"/>
              </a:solidFill>
            </a:endParaRPr>
          </a:p>
        </p:txBody>
      </p:sp>
      <p:sp>
        <p:nvSpPr>
          <p:cNvPr id="13" name="Shape 11"/>
          <p:cNvSpPr/>
          <p:nvPr/>
        </p:nvSpPr>
        <p:spPr>
          <a:xfrm>
            <a:off x="365760" y="3172968"/>
            <a:ext cx="5394960" cy="27432"/>
          </a:xfrm>
          <a:prstGeom prst="rect">
            <a:avLst/>
          </a:prstGeom>
          <a:solidFill>
            <a:srgbClr val="1E3A5F"/>
          </a:solidFill>
          <a:ln w="12700">
            <a:solidFill>
              <a:srgbClr val="1E3A5F"/>
            </a:solidFill>
            <a:prstDash val="solid"/>
          </a:ln>
        </p:spPr>
      </p:sp>
      <p:sp>
        <p:nvSpPr>
          <p:cNvPr id="14" name="Text 12"/>
          <p:cNvSpPr/>
          <p:nvPr/>
        </p:nvSpPr>
        <p:spPr>
          <a:xfrm>
            <a:off x="365760" y="3246120"/>
            <a:ext cx="5413248" cy="868680"/>
          </a:xfrm>
          <a:prstGeom prst="rect">
            <a:avLst/>
          </a:prstGeom>
          <a:noFill/>
          <a:ln/>
        </p:spPr>
        <p:txBody>
          <a:bodyPr wrap="square" lIns="0" tIns="0" rIns="0" bIns="0" rtlCol="0" anchor="ctr"/>
          <a:lstStyle/>
          <a:p>
            <a:pPr marL="0" indent="0">
              <a:lnSpc>
                <a:spcPct val="130000"/>
              </a:lnSpc>
              <a:buNone/>
            </a:pPr>
            <a:r>
              <a:rPr lang="en-US" sz="1100" dirty="0">
                <a:solidFill>
                  <a:srgbClr val="E2E8F0"/>
                </a:solidFill>
              </a:rPr>
              <a:t>Higher visit counts do NOT always translate to higher revenue. Uasin Gishu records 58 visits </a:t>
            </a:r>
            <a:r>
              <a:rPr lang="en-US" sz="1100">
                <a:solidFill>
                  <a:srgbClr val="E2E8F0"/>
                </a:solidFill>
              </a:rPr>
              <a:t>yet generates  </a:t>
            </a:r>
            <a:r>
              <a:rPr lang="en-US" sz="1100" dirty="0">
                <a:solidFill>
                  <a:srgbClr val="E2E8F0"/>
                </a:solidFill>
              </a:rPr>
              <a:t>the highest revenue of all </a:t>
            </a:r>
            <a:r>
              <a:rPr lang="en-US" sz="1100">
                <a:solidFill>
                  <a:srgbClr val="E2E8F0"/>
                </a:solidFill>
              </a:rPr>
              <a:t>counties  while </a:t>
            </a:r>
            <a:r>
              <a:rPr lang="en-US" sz="1100" dirty="0">
                <a:solidFill>
                  <a:srgbClr val="E2E8F0"/>
                </a:solidFill>
              </a:rPr>
              <a:t>Kiambu has </a:t>
            </a:r>
            <a:r>
              <a:rPr lang="en-US" sz="1100">
                <a:solidFill>
                  <a:srgbClr val="E2E8F0"/>
                </a:solidFill>
              </a:rPr>
              <a:t>59 visits. </a:t>
            </a:r>
            <a:r>
              <a:rPr lang="en-US" sz="1100" dirty="0">
                <a:solidFill>
                  <a:srgbClr val="E2E8F0"/>
                </a:solidFill>
              </a:rPr>
              <a:t>This suggests Uasin Gishu patients present with more complex or expensive conditions.</a:t>
            </a:r>
            <a:endParaRPr lang="en-US" sz="1100" dirty="0"/>
          </a:p>
        </p:txBody>
      </p:sp>
      <p:sp>
        <p:nvSpPr>
          <p:cNvPr id="15" name="Text 13"/>
          <p:cNvSpPr/>
          <p:nvPr/>
        </p:nvSpPr>
        <p:spPr>
          <a:xfrm>
            <a:off x="365760" y="4160520"/>
            <a:ext cx="5413248" cy="320040"/>
          </a:xfrm>
          <a:prstGeom prst="rect">
            <a:avLst/>
          </a:prstGeom>
          <a:noFill/>
          <a:ln/>
        </p:spPr>
        <p:txBody>
          <a:bodyPr wrap="square" lIns="0" tIns="0" rIns="0" bIns="0" rtlCol="0" anchor="ctr"/>
          <a:lstStyle/>
          <a:p>
            <a:pPr marL="0" indent="0">
              <a:buNone/>
            </a:pPr>
            <a:endParaRPr lang="en-US" sz="1100" dirty="0"/>
          </a:p>
        </p:txBody>
      </p:sp>
      <p:sp>
        <p:nvSpPr>
          <p:cNvPr id="16" name="Shape 14"/>
          <p:cNvSpPr/>
          <p:nvPr/>
        </p:nvSpPr>
        <p:spPr>
          <a:xfrm>
            <a:off x="201168" y="4709160"/>
            <a:ext cx="5669280" cy="1737360"/>
          </a:xfrm>
          <a:prstGeom prst="rect">
            <a:avLst/>
          </a:prstGeom>
          <a:solidFill>
            <a:srgbClr val="0D2137"/>
          </a:solidFill>
          <a:ln w="6350">
            <a:solidFill>
              <a:srgbClr val="1E3A5F"/>
            </a:solidFill>
            <a:prstDash val="solid"/>
          </a:ln>
          <a:effectLst>
            <a:outerShdw blurRad="101600" dist="38100" dir="8100000" algn="bl" rotWithShape="0">
              <a:srgbClr val="000000">
                <a:alpha val="12000"/>
              </a:srgbClr>
            </a:outerShdw>
          </a:effectLst>
        </p:spPr>
      </p:sp>
      <p:sp>
        <p:nvSpPr>
          <p:cNvPr id="17" name="Shape 15"/>
          <p:cNvSpPr/>
          <p:nvPr/>
        </p:nvSpPr>
        <p:spPr>
          <a:xfrm>
            <a:off x="201168" y="4709160"/>
            <a:ext cx="54864" cy="1737360"/>
          </a:xfrm>
          <a:prstGeom prst="rect">
            <a:avLst/>
          </a:prstGeom>
          <a:solidFill>
            <a:srgbClr val="0F3460"/>
          </a:solidFill>
          <a:ln w="12700">
            <a:solidFill>
              <a:srgbClr val="0F3460"/>
            </a:solidFill>
            <a:prstDash val="solid"/>
          </a:ln>
        </p:spPr>
      </p:sp>
      <p:sp>
        <p:nvSpPr>
          <p:cNvPr id="18" name="Text 16"/>
          <p:cNvSpPr/>
          <p:nvPr/>
        </p:nvSpPr>
        <p:spPr>
          <a:xfrm>
            <a:off x="365760" y="4800600"/>
            <a:ext cx="5440680" cy="274320"/>
          </a:xfrm>
          <a:prstGeom prst="rect">
            <a:avLst/>
          </a:prstGeom>
          <a:noFill/>
          <a:ln/>
        </p:spPr>
        <p:txBody>
          <a:bodyPr wrap="square" lIns="0" tIns="0" rIns="0" bIns="0" rtlCol="0" anchor="ctr"/>
          <a:lstStyle/>
          <a:p>
            <a:pPr marL="0" indent="0">
              <a:buNone/>
            </a:pPr>
            <a:r>
              <a:rPr lang="en-US" sz="1100" b="1" dirty="0">
                <a:solidFill>
                  <a:schemeClr val="accent4"/>
                </a:solidFill>
              </a:rPr>
              <a:t>Q3-  Department Pharmacy Costs</a:t>
            </a:r>
            <a:endParaRPr lang="en-US" sz="1100" dirty="0">
              <a:solidFill>
                <a:schemeClr val="accent4"/>
              </a:solidFill>
            </a:endParaRPr>
          </a:p>
        </p:txBody>
      </p:sp>
      <p:sp>
        <p:nvSpPr>
          <p:cNvPr id="19" name="Shape 17"/>
          <p:cNvSpPr/>
          <p:nvPr/>
        </p:nvSpPr>
        <p:spPr>
          <a:xfrm>
            <a:off x="365760" y="5093208"/>
            <a:ext cx="5394960" cy="27432"/>
          </a:xfrm>
          <a:prstGeom prst="rect">
            <a:avLst/>
          </a:prstGeom>
          <a:solidFill>
            <a:srgbClr val="1E3A5F"/>
          </a:solidFill>
          <a:ln w="12700">
            <a:solidFill>
              <a:srgbClr val="1E3A5F"/>
            </a:solidFill>
            <a:prstDash val="solid"/>
          </a:ln>
        </p:spPr>
      </p:sp>
      <p:sp>
        <p:nvSpPr>
          <p:cNvPr id="20" name="Text 18"/>
          <p:cNvSpPr/>
          <p:nvPr/>
        </p:nvSpPr>
        <p:spPr>
          <a:xfrm>
            <a:off x="365760" y="5166360"/>
            <a:ext cx="5413248" cy="868680"/>
          </a:xfrm>
          <a:prstGeom prst="rect">
            <a:avLst/>
          </a:prstGeom>
          <a:noFill/>
          <a:ln/>
        </p:spPr>
        <p:txBody>
          <a:bodyPr wrap="square" lIns="0" tIns="0" rIns="0" bIns="0" rtlCol="0" anchor="ctr"/>
          <a:lstStyle/>
          <a:p>
            <a:pPr marL="0" indent="0">
              <a:lnSpc>
                <a:spcPct val="130000"/>
              </a:lnSpc>
              <a:buNone/>
            </a:pPr>
            <a:r>
              <a:rPr lang="en-US" sz="1100" dirty="0">
                <a:solidFill>
                  <a:srgbClr val="E2E8F0"/>
                </a:solidFill>
              </a:rPr>
              <a:t>Inpatient and Emergency  departments generate nearly identical and highest pharmacy costs. Outpatient   is only marginally lower, suggesting all departments have high medication demand. Malaria drugs alone account for  the single largest drug category.</a:t>
            </a:r>
            <a:endParaRPr lang="en-US" sz="1100" dirty="0"/>
          </a:p>
        </p:txBody>
      </p:sp>
      <p:sp>
        <p:nvSpPr>
          <p:cNvPr id="21" name="Text 19"/>
          <p:cNvSpPr/>
          <p:nvPr/>
        </p:nvSpPr>
        <p:spPr>
          <a:xfrm>
            <a:off x="365760" y="6080760"/>
            <a:ext cx="5413248" cy="320040"/>
          </a:xfrm>
          <a:prstGeom prst="rect">
            <a:avLst/>
          </a:prstGeom>
          <a:noFill/>
          <a:ln/>
        </p:spPr>
        <p:txBody>
          <a:bodyPr wrap="square" lIns="0" tIns="0" rIns="0" bIns="0" rtlCol="0" anchor="ctr"/>
          <a:lstStyle/>
          <a:p>
            <a:pPr marL="0" indent="0">
              <a:buNone/>
            </a:pPr>
            <a:endParaRPr lang="en-US" sz="1100" dirty="0"/>
          </a:p>
        </p:txBody>
      </p:sp>
      <p:sp>
        <p:nvSpPr>
          <p:cNvPr id="22" name="Shape 20"/>
          <p:cNvSpPr/>
          <p:nvPr/>
        </p:nvSpPr>
        <p:spPr>
          <a:xfrm>
            <a:off x="6080760" y="877824"/>
            <a:ext cx="5669280" cy="1737360"/>
          </a:xfrm>
          <a:prstGeom prst="rect">
            <a:avLst/>
          </a:prstGeom>
          <a:solidFill>
            <a:srgbClr val="0D2137"/>
          </a:solidFill>
          <a:ln w="6350">
            <a:solidFill>
              <a:srgbClr val="1E3A5F"/>
            </a:solidFill>
            <a:prstDash val="solid"/>
          </a:ln>
          <a:effectLst>
            <a:outerShdw blurRad="101600" dist="38100" dir="8100000" algn="bl" rotWithShape="0">
              <a:srgbClr val="000000">
                <a:alpha val="12000"/>
              </a:srgbClr>
            </a:outerShdw>
          </a:effectLst>
        </p:spPr>
      </p:sp>
      <p:sp>
        <p:nvSpPr>
          <p:cNvPr id="23" name="Shape 21"/>
          <p:cNvSpPr/>
          <p:nvPr/>
        </p:nvSpPr>
        <p:spPr>
          <a:xfrm>
            <a:off x="6217920" y="868680"/>
            <a:ext cx="54864" cy="1737360"/>
          </a:xfrm>
          <a:prstGeom prst="rect">
            <a:avLst/>
          </a:prstGeom>
          <a:solidFill>
            <a:srgbClr val="F4A261"/>
          </a:solidFill>
          <a:ln w="12700">
            <a:solidFill>
              <a:srgbClr val="F4A261"/>
            </a:solidFill>
            <a:prstDash val="solid"/>
          </a:ln>
        </p:spPr>
      </p:sp>
      <p:sp>
        <p:nvSpPr>
          <p:cNvPr id="24" name="Text 22"/>
          <p:cNvSpPr/>
          <p:nvPr/>
        </p:nvSpPr>
        <p:spPr>
          <a:xfrm>
            <a:off x="6382512" y="960120"/>
            <a:ext cx="5440680" cy="274320"/>
          </a:xfrm>
          <a:prstGeom prst="rect">
            <a:avLst/>
          </a:prstGeom>
          <a:noFill/>
          <a:ln/>
        </p:spPr>
        <p:txBody>
          <a:bodyPr wrap="square" lIns="0" tIns="0" rIns="0" bIns="0" rtlCol="0" anchor="ctr"/>
          <a:lstStyle/>
          <a:p>
            <a:pPr marL="0" indent="0">
              <a:buNone/>
            </a:pPr>
            <a:r>
              <a:rPr lang="en-US" sz="1100" b="1" dirty="0">
                <a:solidFill>
                  <a:schemeClr val="accent4"/>
                </a:solidFill>
              </a:rPr>
              <a:t>Q4 - Age Group Medication Consumption</a:t>
            </a:r>
            <a:endParaRPr lang="en-US" sz="1100" dirty="0">
              <a:solidFill>
                <a:schemeClr val="accent4"/>
              </a:solidFill>
            </a:endParaRPr>
          </a:p>
        </p:txBody>
      </p:sp>
      <p:sp>
        <p:nvSpPr>
          <p:cNvPr id="25" name="Shape 23"/>
          <p:cNvSpPr/>
          <p:nvPr/>
        </p:nvSpPr>
        <p:spPr>
          <a:xfrm>
            <a:off x="6382512" y="1252728"/>
            <a:ext cx="5394960" cy="27432"/>
          </a:xfrm>
          <a:prstGeom prst="rect">
            <a:avLst/>
          </a:prstGeom>
          <a:solidFill>
            <a:srgbClr val="1E3A5F"/>
          </a:solidFill>
          <a:ln w="12700">
            <a:solidFill>
              <a:srgbClr val="1E3A5F"/>
            </a:solidFill>
            <a:prstDash val="solid"/>
          </a:ln>
        </p:spPr>
      </p:sp>
      <p:sp>
        <p:nvSpPr>
          <p:cNvPr id="26" name="Text 24"/>
          <p:cNvSpPr/>
          <p:nvPr/>
        </p:nvSpPr>
        <p:spPr>
          <a:xfrm>
            <a:off x="6382512" y="1325880"/>
            <a:ext cx="5413248" cy="868680"/>
          </a:xfrm>
          <a:prstGeom prst="rect">
            <a:avLst/>
          </a:prstGeom>
          <a:noFill/>
          <a:ln/>
        </p:spPr>
        <p:txBody>
          <a:bodyPr wrap="square" lIns="0" tIns="0" rIns="0" bIns="0" rtlCol="0" anchor="ctr"/>
          <a:lstStyle/>
          <a:p>
            <a:pPr marL="0" indent="0">
              <a:lnSpc>
                <a:spcPct val="130000"/>
              </a:lnSpc>
              <a:buNone/>
            </a:pPr>
            <a:r>
              <a:rPr lang="en-US" sz="1100" dirty="0">
                <a:solidFill>
                  <a:srgbClr val="E2E8F0"/>
                </a:solidFill>
              </a:rPr>
              <a:t>The Elderly (65+) demographic consumes 36.6% of all pharmacy spending  despite being a minority patient group  driven by chronic conditions like Diabetes and Hypertension. The average per visit pharmacy spend for the elderly  is also the highest of any age group.</a:t>
            </a:r>
            <a:endParaRPr lang="en-US" sz="1100" dirty="0"/>
          </a:p>
        </p:txBody>
      </p:sp>
      <p:sp>
        <p:nvSpPr>
          <p:cNvPr id="27" name="Text 25"/>
          <p:cNvSpPr/>
          <p:nvPr/>
        </p:nvSpPr>
        <p:spPr>
          <a:xfrm>
            <a:off x="6382512" y="2240280"/>
            <a:ext cx="5413248" cy="320040"/>
          </a:xfrm>
          <a:prstGeom prst="rect">
            <a:avLst/>
          </a:prstGeom>
          <a:noFill/>
          <a:ln/>
        </p:spPr>
        <p:txBody>
          <a:bodyPr wrap="square" lIns="0" tIns="0" rIns="0" bIns="0" rtlCol="0" anchor="ctr"/>
          <a:lstStyle/>
          <a:p>
            <a:pPr marL="0" indent="0">
              <a:buNone/>
            </a:pPr>
            <a:endParaRPr lang="en-US" sz="1100" dirty="0"/>
          </a:p>
        </p:txBody>
      </p:sp>
      <p:sp>
        <p:nvSpPr>
          <p:cNvPr id="28" name="Shape 26"/>
          <p:cNvSpPr/>
          <p:nvPr/>
        </p:nvSpPr>
        <p:spPr>
          <a:xfrm>
            <a:off x="6217920" y="2788920"/>
            <a:ext cx="5669280" cy="1737360"/>
          </a:xfrm>
          <a:prstGeom prst="rect">
            <a:avLst/>
          </a:prstGeom>
          <a:solidFill>
            <a:srgbClr val="0D2137"/>
          </a:solidFill>
          <a:ln w="6350">
            <a:solidFill>
              <a:srgbClr val="1E3A5F"/>
            </a:solidFill>
            <a:prstDash val="solid"/>
          </a:ln>
          <a:effectLst>
            <a:outerShdw blurRad="101600" dist="38100" dir="8100000" algn="bl" rotWithShape="0">
              <a:srgbClr val="000000">
                <a:alpha val="12000"/>
              </a:srgbClr>
            </a:outerShdw>
          </a:effectLst>
        </p:spPr>
      </p:sp>
      <p:sp>
        <p:nvSpPr>
          <p:cNvPr id="29" name="Shape 27"/>
          <p:cNvSpPr/>
          <p:nvPr/>
        </p:nvSpPr>
        <p:spPr>
          <a:xfrm>
            <a:off x="6217920" y="2788920"/>
            <a:ext cx="54864" cy="1737360"/>
          </a:xfrm>
          <a:prstGeom prst="rect">
            <a:avLst/>
          </a:prstGeom>
          <a:solidFill>
            <a:srgbClr val="44CFCB"/>
          </a:solidFill>
          <a:ln w="12700">
            <a:solidFill>
              <a:srgbClr val="44CFCB"/>
            </a:solidFill>
            <a:prstDash val="solid"/>
          </a:ln>
        </p:spPr>
      </p:sp>
      <p:sp>
        <p:nvSpPr>
          <p:cNvPr id="30" name="Text 28"/>
          <p:cNvSpPr/>
          <p:nvPr/>
        </p:nvSpPr>
        <p:spPr>
          <a:xfrm>
            <a:off x="6382512" y="2880360"/>
            <a:ext cx="5440680" cy="274320"/>
          </a:xfrm>
          <a:prstGeom prst="rect">
            <a:avLst/>
          </a:prstGeom>
          <a:noFill/>
          <a:ln/>
        </p:spPr>
        <p:txBody>
          <a:bodyPr wrap="square" lIns="0" tIns="0" rIns="0" bIns="0" rtlCol="0" anchor="ctr"/>
          <a:lstStyle/>
          <a:p>
            <a:pPr marL="0" indent="0">
              <a:buNone/>
            </a:pPr>
            <a:r>
              <a:rPr lang="en-US" sz="1100" b="1" dirty="0">
                <a:solidFill>
                  <a:schemeClr val="accent4"/>
                </a:solidFill>
              </a:rPr>
              <a:t>Q5 -Diagnoses: Long Stay vs Low Spending</a:t>
            </a:r>
            <a:endParaRPr lang="en-US" sz="1100" dirty="0">
              <a:solidFill>
                <a:schemeClr val="accent4"/>
              </a:solidFill>
            </a:endParaRPr>
          </a:p>
        </p:txBody>
      </p:sp>
      <p:sp>
        <p:nvSpPr>
          <p:cNvPr id="31" name="Shape 29"/>
          <p:cNvSpPr/>
          <p:nvPr/>
        </p:nvSpPr>
        <p:spPr>
          <a:xfrm>
            <a:off x="6382512" y="3172968"/>
            <a:ext cx="5394960" cy="27432"/>
          </a:xfrm>
          <a:prstGeom prst="rect">
            <a:avLst/>
          </a:prstGeom>
          <a:solidFill>
            <a:srgbClr val="1E3A5F"/>
          </a:solidFill>
          <a:ln w="12700">
            <a:solidFill>
              <a:srgbClr val="1E3A5F"/>
            </a:solidFill>
            <a:prstDash val="solid"/>
          </a:ln>
        </p:spPr>
      </p:sp>
      <p:sp>
        <p:nvSpPr>
          <p:cNvPr id="32" name="Text 30"/>
          <p:cNvSpPr/>
          <p:nvPr/>
        </p:nvSpPr>
        <p:spPr>
          <a:xfrm>
            <a:off x="6382512" y="3246120"/>
            <a:ext cx="5413248" cy="1124712"/>
          </a:xfrm>
          <a:prstGeom prst="rect">
            <a:avLst/>
          </a:prstGeom>
          <a:noFill/>
          <a:ln/>
        </p:spPr>
        <p:txBody>
          <a:bodyPr wrap="square" lIns="0" tIns="0" rIns="0" bIns="0" rtlCol="0" anchor="ctr"/>
          <a:lstStyle/>
          <a:p>
            <a:pPr marL="0" indent="0">
              <a:lnSpc>
                <a:spcPct val="130000"/>
              </a:lnSpc>
              <a:buNone/>
            </a:pPr>
            <a:r>
              <a:rPr lang="en-US" sz="1100" dirty="0">
                <a:solidFill>
                  <a:srgbClr val="E2E8F0"/>
                </a:solidFill>
              </a:rPr>
              <a:t>Flu patients have the longest average hospital stay  yet moderate pharmacy spend , indicating resource-intensive care with lower drug costs  likely due to supportive treatment. Diabetes is the opposite: shortest stays  AND lowest pharmacy spend , reflecting efficient outpatient management. Malaria shows the highest pharmacy cost per visit  with a shorter stay .</a:t>
            </a:r>
            <a:endParaRPr lang="en-US" sz="1100" dirty="0"/>
          </a:p>
        </p:txBody>
      </p:sp>
      <p:sp>
        <p:nvSpPr>
          <p:cNvPr id="33" name="Text 31"/>
          <p:cNvSpPr/>
          <p:nvPr/>
        </p:nvSpPr>
        <p:spPr>
          <a:xfrm>
            <a:off x="6382512" y="4160520"/>
            <a:ext cx="5413248" cy="320040"/>
          </a:xfrm>
          <a:prstGeom prst="rect">
            <a:avLst/>
          </a:prstGeom>
          <a:noFill/>
          <a:ln/>
        </p:spPr>
        <p:txBody>
          <a:bodyPr wrap="square" lIns="0" tIns="0" rIns="0" bIns="0" rtlCol="0" anchor="ctr"/>
          <a:lstStyle/>
          <a:p>
            <a:pPr marL="0" indent="0">
              <a:buNone/>
            </a:pPr>
            <a:endParaRPr lang="en-US" sz="1100" dirty="0"/>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0E5580"/>
      </a:dk2>
      <a:lt2>
        <a:srgbClr val="EBEBEB"/>
      </a:lt2>
      <a:accent1>
        <a:srgbClr val="ACD433"/>
      </a:accent1>
      <a:accent2>
        <a:srgbClr val="E6C133"/>
      </a:accent2>
      <a:accent3>
        <a:srgbClr val="EF7A24"/>
      </a:accent3>
      <a:accent4>
        <a:srgbClr val="5AA0F5"/>
      </a:accent4>
      <a:accent5>
        <a:srgbClr val="75CEEC"/>
      </a:accent5>
      <a:accent6>
        <a:srgbClr val="65D6A0"/>
      </a:accent6>
      <a:hlink>
        <a:srgbClr val="C4E46E"/>
      </a:hlink>
      <a:folHlink>
        <a:srgbClr val="BDE0F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2000"/>
                <a:hueMod val="96000"/>
                <a:satMod val="128000"/>
                <a:lumMod val="114000"/>
              </a:schemeClr>
            </a:gs>
            <a:gs pos="100000">
              <a:schemeClr val="phClr">
                <a:shade val="62000"/>
                <a:hueMod val="100000"/>
                <a:satMod val="134000"/>
                <a:lumMod val="56000"/>
              </a:schemeClr>
            </a:gs>
          </a:gsLst>
          <a:path path="circle">
            <a:fillToRect l="45000" t="65000" r="125000" b="100000"/>
          </a:path>
        </a:gradFill>
        <a:blipFill rotWithShape="1">
          <a:blip xmlns:r="http://schemas.openxmlformats.org/officeDocument/2006/relationships" r:embed="rId1">
            <a:duotone>
              <a:schemeClr val="phClr">
                <a:shade val="62000"/>
                <a:hueMod val="108000"/>
                <a:satMod val="164000"/>
                <a:lumMod val="69000"/>
              </a:schemeClr>
              <a:schemeClr val="phClr">
                <a:tint val="96000"/>
                <a:hueMod val="90000"/>
                <a:satMod val="130000"/>
                <a:lumMod val="134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BACC050B-8757-4460-95D8-E37B46A6B42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Ion</Template>
  <TotalTime>1445</TotalTime>
  <Words>364</Words>
  <Application>Microsoft Office PowerPoint</Application>
  <PresentationFormat>Widescreen</PresentationFormat>
  <Paragraphs>36</Paragraphs>
  <Slides>3</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vt:i4>
      </vt:variant>
    </vt:vector>
  </HeadingPairs>
  <TitlesOfParts>
    <vt:vector size="8" baseType="lpstr">
      <vt:lpstr>Arial</vt:lpstr>
      <vt:lpstr>Calibri</vt:lpstr>
      <vt:lpstr>Century Gothic</vt:lpstr>
      <vt:lpstr>Wingdings 3</vt:lpstr>
      <vt:lpstr>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Hospital &amp; Pharmacy Data Analysis</dc:title>
  <dc:subject>PptxGenJS Presentation</dc:subject>
  <dc:creator>PptxGenJS</dc:creator>
  <cp:lastModifiedBy>Sue</cp:lastModifiedBy>
  <cp:revision>9</cp:revision>
  <dcterms:created xsi:type="dcterms:W3CDTF">2026-02-13T10:32:50Z</dcterms:created>
  <dcterms:modified xsi:type="dcterms:W3CDTF">2026-02-14T20:10:07Z</dcterms:modified>
</cp:coreProperties>
</file>